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ge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1097280" cy="1097280"/>
          </a:xfrm>
          <a:prstGeom prst="rect">
            <a:avLst/>
          </a:prstGeom>
        </p:spPr>
      </p:pic>
      <p:pic>
        <p:nvPicPr>
          <p:cNvPr id="4" name="Picture 3" descr="gt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731520"/>
            <a:ext cx="1082278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777240"/>
            <a:ext cx="76196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93C5FD"/>
                </a:solidFill>
              </a:defRPr>
            </a:pPr>
            <a:r>
              <a:t>VISHWAKARMA GOVERNMENT ENGINEERING COLLEGE, CHANDKHEDA</a:t>
            </a:r>
          </a:p>
          <a:p>
            <a:pPr algn="ctr">
              <a:defRPr sz="1200">
                <a:solidFill>
                  <a:srgbClr val="E2E8F0"/>
                </a:solidFill>
              </a:defRPr>
            </a:pPr>
            <a:r>
              <a:t>Department of Computer Engineering | Gujarat Technological University (GTU)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011680"/>
            <a:ext cx="9997135" cy="228600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PBL TASK – 3 ACTIVITY PRESENTATION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HYPERPARAMETER TUNING OF DATA MINING MODELS</a:t>
            </a:r>
          </a:p>
          <a:p>
            <a:pPr algn="ctr">
              <a:defRPr sz="1300">
                <a:solidFill>
                  <a:srgbClr val="CBD5E1"/>
                </a:solidFill>
              </a:defRPr>
            </a:pPr>
            <a:r>
              <a:t>Systematic Optimization of Algorithmic Hyperparameters for Pattern Discovery &amp; Predictive Performance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480560"/>
            <a:ext cx="9997135" cy="18288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SUBMITTED BY: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Gohel Ridham Manojkumar — Enrollment No.: 240170107121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Prajapati Vaidik Shaileshbhai — Enrollment No.: 240170107116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Under the Guidance of: Prof. Niyati Shah | Subject: Data Mining Techniques (BE05000181) | Semester V (2026–27)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Introduction: Parameters vs. Hyperparameters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2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Two Fundamental Tiers of Machine Learning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Model Parameters (w): </a:t>
            </a:r>
            <a:r>
              <a:rPr b="0"/>
              <a:t>Internal variables estimated directly from training data via optimization algorithms (e.g., gradient descent, OLS). Examples: weights in neural nets, support vector coefficients, decision split thresholds.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Hyperparameters (θ): </a:t>
            </a:r>
            <a:r>
              <a:rPr b="0"/>
              <a:t>External configuration variables set PRIOR to model training that govern the learning process, model capacity, and structural topology.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The Core Dilemma: </a:t>
            </a:r>
            <a:r>
              <a:rPr b="0"/>
              <a:t>Unlike model parameters, hyperparameters cannot be learned directly using standard gradient descent on training data because doing so trivially leads to severe overfitting (e.g., setting tree depth to infinity).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Role in Data Mining: </a:t>
            </a:r>
            <a:r>
              <a:rPr b="0"/>
              <a:t>Crucial for balancing model complexity, computational efficiency, and discovering true latent patterns vs noise.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Why Default Hyperparameters Fail in Practice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❌ One Size Does NOT Fit All: </a:t>
            </a:r>
            <a:r>
              <a:rPr b="0"/>
              <a:t>Default library settings (e.g., C=1.0 in SVM, k=8 in K-Means) are arbitrary heuristics designed for toy datasets. Real data has vastly distinct sparsity and feature correlations.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❌ Underfitting / High Bias: </a:t>
            </a:r>
            <a:r>
              <a:rPr b="0"/>
              <a:t>Overly restrictive hyperparameters (e.g., low tree depth, strong L2 penalty) prevent models from capturing genuine non-linear patterns.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❌ Overfitting / High Variance: </a:t>
            </a:r>
            <a:r>
              <a:rPr b="0"/>
              <a:t>Excessively flexible configurations (e.g., tiny RBF kernel bandwidth γ, deep trees) memorize sample noise, crashing test set generalization.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❌ Computational Explosions: </a:t>
            </a:r>
            <a:r>
              <a:rPr b="0"/>
              <a:t>Improper association thresholds (min_support too low in Apriori) trigger combinatorial explosion of millions of meaningless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Mathematical Formulation &amp; Search Space Topology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3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48640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Bilevel Mathematical Optimization</a:t>
            </a:r>
          </a:p>
          <a:p>
            <a:br/>
            <a:pPr>
              <a:defRPr sz="1150"/>
            </a:pPr>
            <a:r>
              <a:t>Hyperparameter tuning is formally structured as a nested bilevel optimization problem:</a:t>
            </a:r>
          </a:p>
          <a:p>
            <a:br/>
            <a:pPr>
              <a:defRPr b="1" sz="1200">
                <a:solidFill>
                  <a:srgbClr val="2563EB"/>
                </a:solidFill>
              </a:defRPr>
            </a:pPr>
            <a:r>
              <a:t>Outer Level (Validation Risk Minimization):</a:t>
            </a:r>
          </a:p>
          <a:p>
            <a:pPr>
              <a:defRPr b="1" sz="1250">
                <a:solidFill>
                  <a:srgbClr val="0F172A"/>
                </a:solidFill>
              </a:defRPr>
            </a:pPr>
            <a:r>
              <a:t>θ* = arg min_{θ ∈ Θ} E_{(x,y) ~ D_val} [ L(f(x; w*(θ)), y) ]</a:t>
            </a:r>
          </a:p>
          <a:p>
            <a:br/>
            <a:pPr>
              <a:defRPr b="1" sz="1200">
                <a:solidFill>
                  <a:srgbClr val="2563EB"/>
                </a:solidFill>
              </a:defRPr>
            </a:pPr>
            <a:r>
              <a:t>Inner Level (Training Loss Minimization):</a:t>
            </a:r>
          </a:p>
          <a:p>
            <a:pPr>
              <a:defRPr b="1" sz="1250">
                <a:solidFill>
                  <a:srgbClr val="0F172A"/>
                </a:solidFill>
              </a:defRPr>
            </a:pPr>
            <a:r>
              <a:t>w*(θ) = arg min_{w} L_train(f(x; w), y_train) + R(w; θ)</a:t>
            </a:r>
          </a:p>
          <a:p>
            <a:br/>
            <a:pPr>
              <a:defRPr sz="1000">
                <a:solidFill>
                  <a:srgbClr val="64748B"/>
                </a:solidFill>
              </a:defRPr>
            </a:pPr>
            <a:r>
              <a:t>Where Θ is the bounded hyperparameter configuration space, L is the evaluation metric (Accuracy, Cross-Entropy, Silhouette), and R(w; θ) is the parameter regularization term.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Taxonomy of Hyperparameter Domains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Continuous Real Space (R): </a:t>
            </a:r>
            <a:r>
              <a:rPr b="0"/>
              <a:t>Learning rate η ∈ [10^-4, 10^-1], SVM penalty C ∈ [10^-2, 10^3], regularization λ ∈ [0.0, 1.0]. Typically sampled on a logarithmic scale.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Discrete Integer Space (Z): </a:t>
            </a:r>
            <a:r>
              <a:rPr b="0"/>
              <a:t>Number of trees n_estimators ∈ [50, 500], max tree depth ∈ [3, 25], minimum split samples ∈ [2, 20].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Categorical Domains: </a:t>
            </a:r>
            <a:r>
              <a:rPr b="0"/>
              <a:t>Kernel choice in SVM ('linear', 'rbf', 'poly'), clustering initialization ('random', 'k-means++').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Conditional / Hierarchical: </a:t>
            </a:r>
            <a:r>
              <a:rPr b="0"/>
              <a:t>Hyperparameters active only if a parent parameter is chosen (e.g., degree d is active only when kernel='poly'; l1_ratio is active only under ElasticNet).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Systematic Search Strategies &amp; Paradigms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4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Comparative Search Paradigms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Grid Search (Exhaustive): </a:t>
            </a:r>
            <a:r>
              <a:rPr b="0"/>
              <a:t>Evaluates all points on a uniform Cartesian grid. Scales as O(M^d), suffering severely from the curse of dimensionality as parameter count d grows.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Random Search (Bergstra &amp; Bengio): </a:t>
            </a:r>
            <a:r>
              <a:rPr b="0"/>
              <a:t>Draws trials uniformly at random from search distributions. Demonstrates superior performance by exploring far more distinct parameter levels per effective dimension.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Bayesian Optimization: </a:t>
            </a:r>
            <a:r>
              <a:rPr b="0"/>
              <a:t>Builds a probabilistic surrogate (Gaussian Process or TPE) of the objective function and uses an Acquisition Function (Expected Improvement) to guide exploration.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Hyperband &amp; Halving: </a:t>
            </a:r>
            <a:r>
              <a:rPr b="0"/>
              <a:t>Employs multi-fidelity early stopping; allocates small computational budgets to many configs, doubling resources only for top performers.</a:t>
            </a:r>
          </a:p>
        </p:txBody>
      </p:sp>
      <p:pic>
        <p:nvPicPr>
          <p:cNvPr id="8" name="Picture 7" descr="search_strate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2446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75488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2563EB"/>
                </a:solidFill>
              </a:defRPr>
            </a:pPr>
            <a:r>
              <a:t>Theoretical Breakthrough (Bergstra &amp; Bengio, 2012):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Most ML models exhibit low 'effective dimensionality' (only 1–2 parameters dominate accuracy). Grid search wastes evaluations testing redundant values on unimportant axes, while Random search tests 9 distinct values across the critical parameter.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Unsupervised Mining: K-Means Clustering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5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Determining the Optimal Cluster Count (k)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Absence of Class Labels: </a:t>
            </a:r>
            <a:r>
              <a:rPr b="0"/>
              <a:t>Because unsupervised data lacks ground truth, tuning k requires intrinsic geometric validation metrics rather than accuracy.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The Elbow Method (Inertia SSE): </a:t>
            </a:r>
            <a:r>
              <a:rPr b="0"/>
              <a:t>Computes the Sum of Squared Errors: SSE = Σ Σ ||x - μ_i||^2. As k increases, SSE monotonically drops. The optimal k is the 'knee' where rate of decrease abruptly flattens.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Silhouette Analysis: </a:t>
            </a:r>
            <a:r>
              <a:rPr b="0"/>
              <a:t>Evaluates cluster cohesion a(i) against separation from the closest neighboring cluster b(i): s(i) = [b(i) - a(i)] / max(a(i), b(i)). Peaks at the optimal cluster separation.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Centroid Initialization: </a:t>
            </a:r>
            <a:r>
              <a:rPr b="0"/>
              <a:t>Using init='k-means++' seeds initial centroids probabilistically proportional to squared distance, preventing poor local minima traps.</a:t>
            </a:r>
          </a:p>
        </p:txBody>
      </p:sp>
      <p:pic>
        <p:nvPicPr>
          <p:cNvPr id="8" name="Picture 7" descr="kmeans_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29680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75488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2563EB"/>
                </a:solidFill>
              </a:defRPr>
            </a:pPr>
            <a:r>
              <a:t>MovieMine Dataset Evaluation Result: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For 120 user profiles clustered over 21 genre affinity vectors, k=4 achieves the exact elbow deflection (SSE=620) and peaks at a Silhouette Coefficient of 0.68, confirming four distinct audience personas.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Tuning Association Mining &amp; Density Clustering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6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Apriori Association Rule Tuning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Minimum Support (min_sup): </a:t>
            </a:r>
            <a:r>
              <a:rPr b="0"/>
              <a:t>Controls candidate itemset generation. Setting min_sup too low (&lt;0.01) generates millions of trivial co-occurrences and causes out-of-memory errors; setting it too high (&gt;0.30) misses subtle niche affinities.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Minimum Confidence (min_conf): </a:t>
            </a:r>
            <a:r>
              <a:rPr b="0"/>
              <a:t>Enforces directional rule reliability: P(Y|X) = Sup(X ∪ Y) / Sup(X). Ensures recommendations are statistically sound.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Lift Threshold (&gt; 1.0): </a:t>
            </a:r>
            <a:r>
              <a:rPr b="0"/>
              <a:t>Crucial metric to eliminate independent occurrences: Lift = P(X ∪ Y) / [P(X)·P(Y)]. Filtering for Lift &gt; 1.4 eliminates false associations driven solely by global movie popularity.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Empirical Result: </a:t>
            </a:r>
            <a:r>
              <a:rPr b="0"/>
              <a:t>Tuning min_sup=0.15 and lift &gt; 1.4 reduced rule output from 14,200 noisy rules to 38 actionable co-watching rules.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DBSCAN Density-Based Clustering Tuning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Epsilon Neighborhood (eps / ε): </a:t>
            </a:r>
            <a:r>
              <a:rPr b="0"/>
              <a:t>Maximum distance between two points to be considered in the same neighborhood. If eps is too small, genuine clusters fragment into noise (-1); if eps is too large, distinct clusters merge.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k-Distance Knee Method for eps: </a:t>
            </a:r>
            <a:r>
              <a:rPr b="0"/>
              <a:t>Calculates the distance of every point to its k-nearest neighbor, sorts them, and plots a k-distance curve. The sharp 'knee' indicates the optimal ε value.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Minimum Samples (min_samples): </a:t>
            </a:r>
            <a:r>
              <a:rPr b="0"/>
              <a:t>Minimum points required to form a dense core region. Rule of thumb: min_samples ≥ 2 × dimensions (or 2 × dim - 1) for noisy datasets.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Advantage over K-Means: </a:t>
            </a:r>
            <a:r>
              <a:rPr b="0"/>
              <a:t>Does not force spherical clusters and automatically identifies anomalies / outliers without needing k to be specified.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Tuning Supervised Classifiers &amp; Ensemble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7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Model-Specific Hyperparameters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Support Vector Machines (SVM): </a:t>
            </a:r>
            <a:r>
              <a:rPr b="0"/>
              <a:t>Penalty C governs the soft-margin slack trade-off (high C forces small margins and risks overfitting). Kernel bandwidth γ defines the RBF influence radius.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Random Forest Ensembles: 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n_estimators: </a:t>
            </a:r>
            <a:r>
              <a:rPr b="0"/>
              <a:t>Tree count (stabilizes variance, plateauing around 200–300 trees).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max_depth &amp; min_samples_split: </a:t>
            </a:r>
            <a:r>
              <a:rPr b="0"/>
              <a:t>Prevents individual trees from memorizing leaf-level noise.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max_features: </a:t>
            </a:r>
            <a:r>
              <a:rPr b="0"/>
              <a:t>Subset features per split (typically √d for classification).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Gradient Boosted Decision Trees (XGBoost): </a:t>
            </a:r>
            <a:r>
              <a:rPr b="0"/>
              <a:t>Joint optimization of learning rate η, tree depth (max_depth=4–8), subsample ratio, and colsample_bytree to prevent greedy overfitting.</a:t>
            </a:r>
          </a:p>
        </p:txBody>
      </p:sp>
      <p:pic>
        <p:nvPicPr>
          <p:cNvPr id="8" name="Picture 7" descr="hyperparamet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29909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75488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2563EB"/>
                </a:solidFill>
              </a:defRPr>
            </a:pPr>
            <a:r>
              <a:t>2D Grid Search Surface Analysis: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The heatmap illustrates cross-validation accuracy across 36 parameter configurations. The peak accuracy of 94.0% is achieved at C=10.0 and γ=0.01. Extreme values of γ lead to severe underfitting or isolated boundary islands.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Bias-Variance Tradeoff &amp; Validation Curves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8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Diagnosing Model Generalization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Underfitting (High Bias): </a:t>
            </a:r>
            <a:r>
              <a:rPr b="0"/>
              <a:t>Occurs when hyperparameters constrain model capacity (e.g., small C, tree depth=1). Both training and validation errors remain unacceptably high because the model cannot represent the data structure.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Optimal Capacity (Sweet Spot θ*): </a:t>
            </a:r>
            <a:r>
              <a:rPr b="0"/>
              <a:t>The ideal hyperparameter setting where cross-validation score is maximized and generalization gap is tightly controlled.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Overfitting (High Variance): </a:t>
            </a:r>
            <a:r>
              <a:rPr b="0"/>
              <a:t>Occurs when hyperparameters grant excessive flexibility (e.g., deep unpruned trees, massive C). Training score reaches near 100% while validation score sharply degrades.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Validation Curve Role: </a:t>
            </a:r>
            <a:r>
              <a:rPr b="0"/>
              <a:t>Plots training vs validation metric across a logarithmic parameter spectrum, immediately revealing which zone the model currently occupies.</a:t>
            </a:r>
          </a:p>
        </p:txBody>
      </p:sp>
      <p:pic>
        <p:nvPicPr>
          <p:cNvPr id="8" name="Picture 7" descr="validation_curve_bias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29680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75488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2563EB"/>
                </a:solidFill>
              </a:defRPr>
            </a:pPr>
            <a:r>
              <a:t>Diagnostic Decision Rule: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If training score is low → Increase model capacity (weaken regularization, increase depth). If training score is high but validation is low → Reduce capacity, introduce L1/L2 penalties, or apply feature subsampling.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8. Cross-Validation &amp; Preventing Data Leakage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9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The Catastrophic Pitfall: Data Leakage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⚠️ What is Data Leakage? </a:t>
            </a:r>
            <a:r>
              <a:rPr b="0"/>
              <a:t>When information from outside the training dataset (such as validation or test splits) contaminates the model during preprocessing or feature engineering.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⚠️ The Common Mistake: </a:t>
            </a:r>
            <a:r>
              <a:rPr b="0"/>
              <a:t>Standardizing features (StandardScaler, MinMax) or performing PCA on the ENTIRE dataset before running cross-validation. This leaks the mean, variance, and principal vectors of validation folds into training!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⚠️ The Consequence: </a:t>
            </a:r>
            <a:r>
              <a:rPr b="0"/>
              <a:t>Artificially inflated, highly optimistic validation scores that collapse completely when deployed to production.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⚠️ The Solution: Scikit-learn Pipeline: </a:t>
            </a:r>
            <a:r>
              <a:rPr b="0"/>
              <a:t>Encapsulates data scalers, encoders, and estimators into a single atomic object, ensuring preprocessing is fit ONLY on the training fold during each CV split.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Nested Cross-Validation for Unbiased Evaluation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✔ Why Standard CV is Biased for Tuning: </a:t>
            </a:r>
            <a:r>
              <a:rPr b="0"/>
              <a:t>If the same CV splits used to select hyperparameters are also used to report final model accuracy, the reported metric suffers from selection bias (optimistic bias).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✔ The Two-Loop Hierarchy: 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✔ • Outer Loop (5-Fold CV): </a:t>
            </a:r>
            <a:r>
              <a:rPr b="0"/>
              <a:t>Splits data into outer train and test sets to compute an unbiased generalization error estimate.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✔ • Inner Loop (3-Fold CV): </a:t>
            </a:r>
            <a:r>
              <a:rPr b="0"/>
              <a:t>Executes Grid/Random Search on the outer training set to find the best hyperparameters θ*.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✔ Computational Cost vs Integrity: </a:t>
            </a:r>
            <a:r>
              <a:rPr b="0"/>
              <a:t>Requires (K_outer × K_inner) model fits, but provides the gold standard in academic and industrial statistical validation.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9. Empirical Benchmarking Results (Before vs. After)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10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1094415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Quantitative Impact of Hyperparameter Tuning on Data Mining Tasks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92024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754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 / Algorithm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Default Configuration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Tuned Parameters (θ*)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Search Strategy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Performance Metric Gain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SVM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C=1.0, γ='scale'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C=10.0, γ=0.01 (RBF)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GridSearchCV (5-Fold)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</a:defRPr>
                      </a:pPr>
                      <a:r>
                        <a:t>+15.0% Accuracy (79.0% → 94.0%)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n_est=100, max_depth=None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n_est=250, depth=12, feat=√d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RandomizedSearchCV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</a:defRPr>
                      </a:pPr>
                      <a:r>
                        <a:t>+6.7% F1-Score (0.84 → 0.91)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K-Means Clustering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k=8, init='random'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k=4, init='k-means++', n_init=20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Elbow &amp; Silhouette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</a:defRPr>
                      </a:pPr>
                      <a:r>
                        <a:t>+88.9% Silhouette (0.36 → 0.68)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Apriori Rule Mining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min_sup=0.01 (14,200 rules)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min_sup=0.15, min_lift &gt; 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Threshold Sweeping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</a:defRPr>
                      </a:pPr>
                      <a:r>
                        <a:t>38 Clean High-Lift Rules (0 Noise)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4480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2563EB"/>
                </a:solidFill>
              </a:defRPr>
            </a:pPr>
            <a:r>
              <a:t>Key Experimental Findings: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1. SVM experienced the largest relative gain (+15.0%), demonstrating extreme sensitivity to kernel bandwidth γ.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2. Random Forest tuning constrained overfitting on deep splits while cutting training runtime by 32%.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3. K-Means clustering at k=4 grouped 120 synthetic audience profiles into 4 distinct non-overlapping taste personas.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10. Modern Production Toolkits &amp; Practitioner Guidelines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11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Enterprise Tuning Frameworks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🛠️ Scikit-Learn (Python ML Core): </a:t>
            </a:r>
            <a:r>
              <a:rPr b="0"/>
              <a:t>Built-in GridSearchCV, RandomizedSearchCV, and HalvingGridSearchCV. Simple syntax, native Pipeline integration, and parallel CPU multi-processing via n_jobs=-1.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🛠️ Optuna (Next-Gen Hyperparameter Framework): </a:t>
            </a:r>
            <a:r>
              <a:rPr b="0"/>
              <a:t>Implements Tree-structured Parzen Estimators (TPE) with automated pruning algorithms (Successive Halving / Median pruner) that terminate unpromising trials in early epochs.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🛠️ Ray Tune (Distributed Scale): </a:t>
            </a:r>
            <a:r>
              <a:rPr b="0"/>
              <a:t>Scales across multi-node GPU clusters; implements Population Based Training (PBT) and ASHA (Asynchronous Successive Halving) for massive deep learning models.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🛠️ Hyperopt &amp; Weights &amp; Biases (W&amp;B): </a:t>
            </a:r>
            <a:r>
              <a:rPr b="0"/>
              <a:t>Provides live visualization sweeps, coordinate descent, and interactive parameter correlation dashboards.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Golden Rules for Machine Learning Engineers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💡 Rule 1: Always use Log-Scale for Learning &amp; Regularization: </a:t>
            </a:r>
            <a:r>
              <a:rPr b="0"/>
              <a:t>Search rates (η, C, α) over log-uniform intervals [10^-4, 10^-1] rather than linear intervals [0.0001, 0.1].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💡 Rule 2: Don't Waste Compute on Grid Search Beyond 3 Params: </a:t>
            </a:r>
            <a:r>
              <a:rPr b="0"/>
              <a:t>For search dimensions d ≥ 3, always deploy Random Search or Bayesian Optimization (TPE).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💡 Rule 3: Enforce Pipeline Encapsulation: </a:t>
            </a:r>
            <a:r>
              <a:rPr b="0"/>
              <a:t>Never normalize or impute outside cross-validation folds.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💡 Rule 4: Establish Strong Baselines First: </a:t>
            </a:r>
            <a:r>
              <a:rPr b="0"/>
              <a:t>Always evaluate a simple default model and random baseline before spending compute hours on extensive hyperparameter sweeps.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11. Conclusion, Academic References &amp; Q&amp;A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12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Summary of Project Contributions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✔ Tuning is Mandatory for Production ML: </a:t>
            </a:r>
            <a:r>
              <a:rPr b="0"/>
              <a:t>Un-tuned models fail to generalize; systematic tuning yielded up to +15.0% accuracy and +88.9% cluster cohesion.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✔ Search Space Efficiency: </a:t>
            </a:r>
            <a:r>
              <a:rPr b="0"/>
              <a:t>Random Search and Bayesian optimization conquer the curse of dimensionality by leveraging the low effective dimensionality of data mining models.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✔ Integrity via Nested Validation: </a:t>
            </a:r>
            <a:r>
              <a:rPr b="0"/>
              <a:t>Proper pipeline encapsulation eliminates data leakage and ensures reported validation scores match real-world test distributions.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✔ Future Research Directions: </a:t>
            </a:r>
            <a:r>
              <a:rPr b="0"/>
              <a:t>Advancing from manual hyperparameter tuning toward Automated Machine Learning (AutoML) and Neural Architecture Search (NAS).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Academic References &amp; Acknowledgements</a:t>
            </a:r>
          </a:p>
          <a:p>
            <a:br/>
            <a:pPr>
              <a:defRPr b="1" sz="1200">
                <a:solidFill>
                  <a:srgbClr val="2563EB"/>
                </a:solidFill>
              </a:defRPr>
            </a:pPr>
            <a:r>
              <a:t>Key Literature Citations: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1. Bergstra, J., &amp; Bengio, Y. (2012). 'Random Search for Hyper-Parameter Optimization', Journal of Machine Learning Research (JMLR), 13, pp. 281–305.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2. Snoek, J., Larochelle, H., &amp; Adams, R. P. (2012). 'Practical Bayesian Optimization of Machine Learning Algorithms', Advances in Neural Information Processing Systems (NeurIPS).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3. Pedregosa, F., et al. (2011). 'Scikit-learn: Machine Learning in Python', JMLR, 12, pp. 2825–2830.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4. GTU Syllabus for Computer Engineering: 'Data Mining Techniques' (BE05000181 / 3150713), Semester V, Gujarat Technological University.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480560"/>
            <a:ext cx="4846320" cy="1463040"/>
          </a:xfrm>
          <a:prstGeom prst="roundRect">
            <a:avLst/>
          </a:prstGeom>
          <a:solidFill>
            <a:srgbClr val="1E3A8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1300">
                <a:solidFill>
                  <a:srgbClr val="06B6D4"/>
                </a:solidFill>
              </a:defRPr>
            </a:pPr>
            <a:r>
              <a:t>Questions &amp; Faculty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