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VISHWAKARMA GOVERNMENT ENGINEERING COLLEGE, CHANDKHEDA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Department of Computer Engineering • Gujarat Technological University (GTU)</a:t>
            </a:r>
          </a:p>
          <a:p>
            <a:pPr>
              <a:spcBef>
                <a:spcPts val="1800"/>
              </a:spcBef>
              <a:defRPr sz="3300" b="1">
                <a:solidFill>
                  <a:srgbClr val="FFFFFF"/>
                </a:solidFill>
              </a:defRPr>
            </a:pPr>
            <a:r>
              <a:t>Hyperparameter Tuning of Data Mining Models</a:t>
            </a:r>
          </a:p>
          <a:p>
            <a:pPr>
              <a:spcBef>
                <a:spcPts val="800"/>
              </a:spcBef>
              <a:defRPr sz="1400">
                <a:solidFill>
                  <a:srgbClr val="7DD3FC"/>
                </a:solidFill>
              </a:defRPr>
            </a:pPr>
            <a:r>
              <a:t>Systematic Search Strategies, Generalization Theory, Bias-Variance Tradeoffs &amp; Empirical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STUDENT (INDIVIDUAL)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Gohel Ridham Manojkumar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Enrollment: 240170107121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4114800"/>
            <a:ext cx="2560320" cy="2011680"/>
          </a:xfrm>
          <a:prstGeom prst="roundRect">
            <a:avLst/>
          </a:prstGeom>
          <a:solidFill>
            <a:srgbClr val="134E4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DD4BF"/>
                </a:solidFill>
              </a:defRPr>
            </a:pPr>
            <a:r>
              <a:t>SUBJECT &amp; CODE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Data Mining Techniques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BE05000181 • Semester 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4114800"/>
            <a:ext cx="2560320" cy="201168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A5B4FC"/>
                </a:solidFill>
              </a:defRPr>
            </a:pPr>
            <a:r>
              <a:t>FACULTY GUIDE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Prof. Niyati Shah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Assistant Professor, CE Dept.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4114800"/>
            <a:ext cx="2560320" cy="2011680"/>
          </a:xfrm>
          <a:prstGeom prst="roundRect">
            <a:avLst/>
          </a:prstGeom>
          <a:solidFill>
            <a:srgbClr val="78350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EVALUATION &amp; YEAR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PBL Task - 3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t>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Foundations of Hyperparameter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2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Bilevel Optimization Problem</a:t>
            </a:r>
          </a:p>
          <a:p>
            <a:pPr>
              <a:spcBef>
                <a:spcPts val="800"/>
              </a:spcBef>
              <a:defRPr sz="1100"/>
            </a:pPr>
            <a:r>
              <a:t>Hyperparameter optimization (HPO) is formally posed as a bilevel mathematical program where the outer objective minimizes validation loss over the parameter space Θ: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θ* = arg min_{θ ∈ Θ} E_{(x,y)~D_val} [ L(f(x; w*(θ)), y) ]</a:t>
            </a:r>
            <a:br/>
            <a:r>
              <a:t>s.t.  w*(θ) = arg min_w L_train(f(x; w), y_train) + λ Ω(w; θ)</a:t>
            </a:r>
          </a:p>
          <a:p>
            <a:pPr>
              <a:spcBef>
                <a:spcPts val="1400"/>
              </a:spcBef>
              <a:defRPr sz="1300" b="1"/>
            </a:pPr>
            <a:r>
              <a:t>Key Distinctions:</a:t>
            </a:r>
          </a:p>
          <a:p>
            <a:pPr>
              <a:spcBef>
                <a:spcPts val="400"/>
              </a:spcBef>
              <a:defRPr sz="1050"/>
            </a:pPr>
            <a:r>
              <a:t>• Model Parameters (w): Learned intrinsically during training via gradient descent, backprop, or normal equations (e.g. weights, biases, cluster centers).</a:t>
            </a:r>
          </a:p>
          <a:p>
            <a:pPr>
              <a:spcBef>
                <a:spcPts val="400"/>
              </a:spcBef>
              <a:defRPr sz="1050"/>
            </a:pPr>
            <a:r>
              <a:t>• Hyperparameters (θ): External structural knobs configured before training that govern learning capacity, model complexity, and convergence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949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4416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📈  Continuous Spaces (R)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Learning rate η ∈ [10^-4, 10^-1], SVM regularization penalty C ∈ [10^-2, 10^3], RBF kernel scale 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949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3580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🌲  Discrete &amp; Integer Spaces (Z)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Tree depth d ∈ [3, 25], ensemble size n_estimators ∈ [50, 500], min_samples_split.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17720"/>
            <a:ext cx="53949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2744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🎛️  Categorical &amp; Conditional Spaces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Kernel function ∈ {linear, rbf, poly}, clustering seeding ∈ {k-means++, random}.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Systematic Search Strategies: Grid vs. Random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4338C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3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1B4B"/>
                </a:solidFill>
              </a:defRPr>
            </a:pPr>
            <a:r>
              <a:t>Exhaustive Grid Search vs. Random Sampling</a:t>
            </a:r>
          </a:p>
          <a:p>
            <a:pPr>
              <a:spcBef>
                <a:spcPts val="800"/>
              </a:spcBef>
              <a:defRPr sz="1100"/>
            </a:pPr>
            <a:r>
              <a:t>• Grid Search (Exhaustive): Evaluates Cartesian product of discretized values. Suffers severely from the Curse of Dimensionality O(M^d), repeatedly evaluating redundant coordinate planes for low-importance hyperparameters.</a:t>
            </a:r>
          </a:p>
          <a:p>
            <a:pPr>
              <a:spcBef>
                <a:spcPts val="1000"/>
              </a:spcBef>
              <a:defRPr sz="1100"/>
            </a:pPr>
            <a:r>
              <a:t>• Random Search (Bergstra &amp; Bengio, 2012): Samples trials independently from a joint probability distribution across Θ. Dramatically superior in practice because ML models typically exhibit low Effective Dimensionality.</a:t>
            </a:r>
          </a:p>
          <a:p>
            <a:pPr>
              <a:spcBef>
                <a:spcPts val="1200"/>
              </a:spcBef>
              <a:defRPr sz="1300" b="1"/>
            </a:pPr>
            <a:r>
              <a:t>Mathematical Guarantee:</a:t>
            </a:r>
          </a:p>
          <a:p>
            <a:pPr>
              <a:spcBef>
                <a:spcPts val="600"/>
              </a:spcBef>
              <a:defRPr sz="1050" b="1">
                <a:solidFill>
                  <a:srgbClr val="6366F1"/>
                </a:solidFill>
              </a:defRPr>
            </a:pPr>
            <a:r>
              <a:t>With n = 60 random trials, the probability of sampling a hyperparameter configuration within the top 5% true optimum exceeds 95%:  1 - (1 - 0.05)^60 ≈ 0.954.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arch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21240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1: Grid Search (3 distinct values) vs Random Search (9 distinct values) across 2D subspace.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3. Advanced Sequential Model-Based Optimization (Bayesian &amp; ASHA)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4338C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ADVANCED HPO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4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ptimization_convergence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474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2: Empirical convergence trajectories: Bayesian TPE achieves peak validation within 25 trials.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1B4B"/>
                </a:solidFill>
              </a:defRPr>
            </a:pPr>
            <a:r>
              <a:t>Sequential Model-Based Optimization (SMBO)</a:t>
            </a:r>
          </a:p>
          <a:p>
            <a:pPr>
              <a:spcBef>
                <a:spcPts val="800"/>
              </a:spcBef>
              <a:defRPr sz="1050"/>
            </a:pPr>
            <a:r>
              <a:t>1. Bayesian Optimization (TPE / GP):</a:t>
            </a:r>
            <a:br/>
            <a:r>
              <a:t>Fits a probabilistic surrogate model p(metric|θ) and maximizes an Acquisition Function (Expected Improvement EI):</a:t>
            </a:r>
            <a:br/>
            <a:r>
              <a:t>EI(θ) = E [ max(0, f* - f(θ)) ]</a:t>
            </a:r>
            <a:br/>
            <a:r>
              <a:t>Effectively balances exploration of unmapped parameter space and exploitation of high-performing clusters.</a:t>
            </a:r>
          </a:p>
          <a:p>
            <a:pPr>
              <a:spcBef>
                <a:spcPts val="1000"/>
              </a:spcBef>
              <a:defRPr sz="1050"/>
            </a:pPr>
            <a:r>
              <a:t>2. Hyperband &amp; Successive Halving (ASHA):</a:t>
            </a:r>
            <a:br/>
            <a:r>
              <a:t>Dynamically manages compute budgets. Allocates minimal resources to many candidate trials, pruning bottom 50% early, and doubling resources for elite trials.</a:t>
            </a:r>
          </a:p>
          <a:p>
            <a:pPr>
              <a:spcBef>
                <a:spcPts val="1000"/>
              </a:spcBef>
              <a:defRPr sz="1000" b="1">
                <a:solidFill>
                  <a:srgbClr val="6366F1"/>
                </a:solidFill>
              </a:defRPr>
            </a:pPr>
            <a:r>
              <a:t>Production Implementation:</a:t>
            </a:r>
            <a:br/>
            <a:r>
              <a:t>Leveraged Optuna framework with Tree-structured Parzen Estimator (TPE) algorithm, achieving 4.8x faster convergence than exhaustive grid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4. Leakage-Proof Validation Architecture (Nested Cross-Validation)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5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2179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sted_cv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23078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66928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3: Nested 5-fold CV architecture with preprocessing pipeline encapsulation.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234440"/>
            <a:ext cx="4572000" cy="50292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37160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4E4A"/>
                </a:solidFill>
              </a:defRPr>
            </a:pPr>
            <a:r>
              <a:t>Data Leakage Prevention Rules</a:t>
            </a:r>
          </a:p>
          <a:p>
            <a:pPr>
              <a:spcBef>
                <a:spcPts val="800"/>
              </a:spcBef>
              <a:defRPr sz="1050"/>
            </a:pPr>
            <a:r>
              <a:t>1. Outer CV Split (5 Folds):</a:t>
            </a:r>
            <a:br/>
            <a:r>
              <a:t>Measures unbiased generalization on strictly isolated test folds that never participate in tuning.</a:t>
            </a:r>
          </a:p>
          <a:p>
            <a:pPr>
              <a:spcBef>
                <a:spcPts val="800"/>
              </a:spcBef>
              <a:defRPr sz="1050"/>
            </a:pPr>
            <a:r>
              <a:t>2. Inner CV Split (3 Folds):</a:t>
            </a:r>
            <a:br/>
            <a:r>
              <a:t>Navigates hyperparameter space to select optimal configuration θ*.</a:t>
            </a:r>
          </a:p>
          <a:p>
            <a:pPr>
              <a:spcBef>
                <a:spcPts val="800"/>
              </a:spcBef>
              <a:defRPr sz="1050"/>
            </a:pPr>
            <a:r>
              <a:t>3. Pipeline Encapsulation:</a:t>
            </a:r>
            <a:br/>
            <a:r>
              <a:t>StandardScaler and PCA must be embedded inside sklearn Pipeline so transformation statistics (μ, σ) are computed ONLY from training folds.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8350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5. Unsupervised Tuning: K-Means Clustering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6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means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474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4: Determining optimal k=4: Inertia elbow aligns with peak Silhouette coefficient (0.68).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8350F"/>
                </a:solidFill>
              </a:defRPr>
            </a:pPr>
            <a:r>
              <a:t>Inertia SSE &amp; Silhouette Formulation</a:t>
            </a:r>
          </a:p>
          <a:p>
            <a:pPr>
              <a:spcBef>
                <a:spcPts val="800"/>
              </a:spcBef>
              <a:defRPr sz="1050"/>
            </a:pPr>
            <a:r>
              <a:t>Inertia (Within-Cluster Sum of Squares):</a:t>
            </a:r>
            <a:br/>
            <a:r>
              <a:t>J = ∑_{k=1}^K ∑_{x ∈ C_k} || x - μ_k ||^2</a:t>
            </a:r>
            <a:br/>
            <a:r>
              <a:t>Measures cluster compactness. Diminishing returns knee located at k = 4.</a:t>
            </a:r>
          </a:p>
          <a:p>
            <a:pPr>
              <a:spcBef>
                <a:spcPts val="1000"/>
              </a:spcBef>
              <a:defRPr sz="1050"/>
            </a:pPr>
            <a:r>
              <a:t>Silhouette Coefficient:</a:t>
            </a:r>
            <a:br/>
            <a:r>
              <a:t>s(i) = [ b(i) - a(i) ] / max( a(i), b(i) )</a:t>
            </a:r>
            <a:br/>
            <a:r>
              <a:t>Where a(i) is mean intra-cluster distance and b(i) is mean nearest-cluster distance. Optimal score 0.68 validates distinct role persona segregation.</a:t>
            </a:r>
          </a:p>
          <a:p>
            <a:pPr>
              <a:spcBef>
                <a:spcPts val="1000"/>
              </a:spcBef>
              <a:defRPr sz="1050" b="1">
                <a:solidFill>
                  <a:srgbClr val="D97706"/>
                </a:solidFill>
              </a:defRPr>
            </a:pPr>
            <a:r>
              <a:t>Centroid Seeding:</a:t>
            </a:r>
            <a:br/>
            <a:r>
              <a:t>Default random initialization causes poor local minima. Tuning to init='k-means++' with n_init=20 guaranteed deterministic convergence.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31843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6. Association Rule Mining: Apriori Parameter Pruning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APRIORI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7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31843"/>
                </a:solidFill>
              </a:defRPr>
            </a:pPr>
            <a:r>
              <a:t>Hyperparameter Pruning Criteria</a:t>
            </a:r>
          </a:p>
          <a:p>
            <a:pPr>
              <a:spcBef>
                <a:spcPts val="800"/>
              </a:spcBef>
              <a:defRPr sz="1050"/>
            </a:pPr>
            <a:r>
              <a:t>1. Minimum Support (min_support):</a:t>
            </a:r>
            <a:br/>
            <a:r>
              <a:t>Governs candidate itemset generation via the Anti-Monotonicity property. Too low (&lt;0.01) triggers 14,200 redundant rules; too high (&gt;0.30) misses niche affinity signals.</a:t>
            </a:r>
          </a:p>
          <a:p>
            <a:pPr>
              <a:spcBef>
                <a:spcPts val="1000"/>
              </a:spcBef>
              <a:defRPr sz="1050"/>
            </a:pPr>
            <a:r>
              <a:t>2. Minimum Confidence (min_confidence):</a:t>
            </a:r>
            <a:br/>
            <a:r>
              <a:t>Enforces conditional probability P(B|A). Filtered out unreliable low-confidence associations.</a:t>
            </a:r>
          </a:p>
          <a:p>
            <a:pPr>
              <a:spcBef>
                <a:spcPts val="1000"/>
              </a:spcBef>
              <a:defRPr sz="1050"/>
            </a:pPr>
            <a:r>
              <a:t>3. Lift Ratio Threshold:</a:t>
            </a:r>
            <a:br/>
            <a:r>
              <a:t>Lift(A → B) = P(A ∩ B) / [ P(A) · P(B) ]</a:t>
            </a:r>
            <a:br/>
            <a:r>
              <a:t>Filters out independent item co-occurrences. Calibrating Lift &gt; 1.4 isolated 38 high-conviction movie affinity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riori_support_lift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25741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5: Support-Confidence-Lift frontier: Parameter pruning isolated 38 actionable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7. Supervised Models: Support Vector Machine (RBF Kernel)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SVM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8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yperparamet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567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6: 2D validation accuracy surface for SVM C vs γ (peak 94.0% at C=10.0, γ=0.01).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SVM Hyperparameter Interactions</a:t>
            </a:r>
          </a:p>
          <a:p>
            <a:pPr>
              <a:spcBef>
                <a:spcPts val="800"/>
              </a:spcBef>
              <a:defRPr sz="1050"/>
            </a:pPr>
            <a:r>
              <a:t>1. Penalty Parameter C (Slack Tradeoff):</a:t>
            </a:r>
            <a:br/>
            <a:r>
              <a:t>Governs tolerance for misclassified points. Low C creates wide soft margins (High Bias); high C enforces narrow margins with heavy penalties (High Variance / Overfitting).</a:t>
            </a:r>
          </a:p>
          <a:p>
            <a:pPr>
              <a:spcBef>
                <a:spcPts val="1000"/>
              </a:spcBef>
              <a:defRPr sz="1050"/>
            </a:pPr>
            <a:r>
              <a:t>2. Gaussian RBF Kernel Width γ:</a:t>
            </a:r>
            <a:br/>
            <a:r>
              <a:t>K(x, x') = exp( -γ ||x - x'||^2 )</a:t>
            </a:r>
            <a:br/>
            <a:r>
              <a:t>Defines the radius of influence of individual support vectors. Large γ creates isolated decision boundaries around training points.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</a:defRPr>
            </a:pPr>
            <a:r>
              <a:t>Empirical Optimum:</a:t>
            </a:r>
            <a:br/>
            <a:r>
              <a:t>At default C=1.0, γ='scale', accuracy was 79.0%. Systematic 2D grid search identified the global optimum at C=10.0, γ=0.01, elevating accuracy to 94.0% (+15.0% gain).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8. Ensemble Hyperparameters: Random Forest &amp; Gradient Boosting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ENSEMBLES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9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5661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566160" cy="10972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n_estimators (Tree Count)</a:t>
            </a:r>
          </a:p>
          <a:p>
            <a:pPr>
              <a:spcBef>
                <a:spcPts val="400"/>
              </a:spcBef>
              <a:defRPr sz="1000" b="1">
                <a:solidFill>
                  <a:srgbClr val="134E4A"/>
                </a:solidFill>
              </a:defRPr>
            </a:pPr>
            <a:r>
              <a:t>Random Forest / XGBoost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</a:defRPr>
            </a:pPr>
            <a:r>
              <a:t>• RF: Adding trees reduces variance without overfitting, plateauing around 250 trees.</a:t>
            </a:r>
            <a:br/>
            <a:r>
              <a:t>• XGBoost: Number of sequential boosting rounds. Requires early stopping to prevent over-fitting.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34440"/>
            <a:ext cx="35661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234440"/>
            <a:ext cx="356616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630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max_depth &amp; Min Samples</a:t>
            </a:r>
          </a:p>
          <a:p>
            <a:pPr>
              <a:spcBef>
                <a:spcPts val="400"/>
              </a:spcBef>
              <a:defRPr sz="1000" b="1">
                <a:solidFill>
                  <a:srgbClr val="0F766E"/>
                </a:solidFill>
              </a:defRPr>
            </a:pPr>
            <a:r>
              <a:t>Tree Complexity Control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</a:defRPr>
            </a:pPr>
            <a:r>
              <a:t>• max_depth: Limits tree growth. In XGBoost, max_depth ∈ [4, 8] prevents complex high-order interaction memorization.</a:t>
            </a:r>
            <a:br/>
            <a:r>
              <a:t>• min_samples_leaf: Regularizes leaf node purity, mitigating noise fitting.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234440"/>
            <a:ext cx="35661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234440"/>
            <a:ext cx="35661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4630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Subsampling &amp; Learning Rate</a:t>
            </a:r>
          </a:p>
          <a:p>
            <a:pPr>
              <a:spcBef>
                <a:spcPts val="400"/>
              </a:spcBef>
              <a:defRPr sz="1000" b="1">
                <a:solidFill>
                  <a:srgbClr val="0D9488"/>
                </a:solidFill>
              </a:defRPr>
            </a:pPr>
            <a:r>
              <a:t>Stochastic Regularization</a:t>
            </a:r>
          </a:p>
          <a:p>
            <a:pPr>
              <a:spcBef>
                <a:spcPts val="1200"/>
              </a:spcBef>
              <a:defRPr sz="1050">
                <a:solidFill>
                  <a:srgbClr val="334155"/>
                </a:solidFill>
              </a:defRPr>
            </a:pPr>
            <a:r>
              <a:t>• learning_rate (η): Shrinkage step size in boosting. Tuned to η = 0.05.</a:t>
            </a:r>
            <a:br/>
            <a:r>
              <a:t>• colsample_bytree: Randomly samples feature subsets (typically sqrt(d)), decorrelating base estimators.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8350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9. Bias-Variance Diagnosis &amp; Validation Curves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10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lidation_curve_bias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474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Figure 7: Validation curve diagnosing High Bias (Underfitting) vs. High Variance (Overfitting).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94960" cy="50292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8350F"/>
                </a:solidFill>
              </a:defRPr>
            </a:pPr>
            <a:r>
              <a:t>Hyperparameter Diagnostic Playbook</a:t>
            </a:r>
          </a:p>
          <a:p>
            <a:pPr>
              <a:spcBef>
                <a:spcPts val="800"/>
              </a:spcBef>
              <a:defRPr sz="1050"/>
            </a:pPr>
            <a:r>
              <a:t>1. Underfitting Regime (High Bias):</a:t>
            </a:r>
            <a:br/>
            <a:r>
              <a:t>• Symptom: Both training and validation errors remain elevated.</a:t>
            </a:r>
            <a:br/>
            <a:r>
              <a:t>• Cause: Model capacity is overly restricted (small C, tree depth ≤ 2).</a:t>
            </a:r>
            <a:br/>
            <a:r>
              <a:t>• Action: Relax regularization, increase tree depth, add polynomial features.</a:t>
            </a:r>
          </a:p>
          <a:p>
            <a:pPr>
              <a:spcBef>
                <a:spcPts val="1000"/>
              </a:spcBef>
              <a:defRPr sz="1050"/>
            </a:pPr>
            <a:r>
              <a:t>2. Overfitting Regime (High Variance):</a:t>
            </a:r>
            <a:br/>
            <a:r>
              <a:t>• Symptom: Training score nears 100% while validation metric drops.</a:t>
            </a:r>
            <a:br/>
            <a:r>
              <a:t>• Cause: Model memorizes spurious training sample noise.</a:t>
            </a:r>
            <a:br/>
            <a:r>
              <a:t>• Action: Enforce L2 penalties, reduce max_depth, increase min_samples_leaf.</a:t>
            </a:r>
          </a:p>
          <a:p>
            <a:pPr>
              <a:spcBef>
                <a:spcPts val="1000"/>
              </a:spcBef>
              <a:defRPr sz="1000" b="1">
                <a:solidFill>
                  <a:srgbClr val="D97706"/>
                </a:solidFill>
              </a:defRPr>
            </a:pPr>
            <a:r>
              <a:t>Sweet Spot θ* Discovery:</a:t>
            </a:r>
            <a:br/>
            <a:r>
              <a:t>Identified peak generalization capacity where validation score reaches maximum before training-validation divergence begins.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31843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10. Empirical Benchmarks: Default vs. Tuned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11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4415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31843"/>
                </a:solidFill>
              </a:defRPr>
            </a:pPr>
            <a:r>
              <a:t>Quantitative Performance Comparison Across Data Mining Architectures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9202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 / Algorithm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Default Configuration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Tuned Hyperparameters θ*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 Metric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Tuned Metric (Gain)</a:t>
                      </a:r>
                    </a:p>
                  </a:txBody>
                  <a:tcPr>
                    <a:solidFill>
                      <a:srgbClr val="83184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SVM Classifier (RBF)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 = 1.0, γ = 'scale'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 = 10.0, γ = 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79.0%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94.0% Accuracy (+15.0%)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Random Forest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n_est = 100, depth =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n_est = 250, depth = 12, feat = √d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0.84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0.91 F1-Score (+6.7%)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K-Means Clustering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k = 8, init = 'random'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k = 4, init = 'k-means++', n_init = 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0.36 Silhouette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0.68 Silhouette (+88.9%)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Apriori Association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min_sup = 0.01, min_conf =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min_sup = 0.15, lift &gt; 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14,200 Noisy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38 Actionable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1206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Key Takeaway: Hyperparameter tuning transformed unguided pattern discovery into reliable decision support. K-Means silhouette improved by +88.9% to isolate 4 verified user archetypes, and Apriori rule pruning eliminated 99.7% of spurious co-watching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11. Best Practices, Production Toolkits &amp; Academic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92608"/>
            <a:ext cx="2011680" cy="4572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Slide 12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2377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Golden Rules of Tuning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1. Never tune on the outer test set (Strict Nested CV).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2. Put all scalers inside Pipeline to avoid leakage.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3. Prefer Random / Bayesian Search over Grid Search.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4. Use log-uniform scales for learning rate and penalty 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94960" cy="237744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4E4A"/>
                </a:solidFill>
              </a:defRPr>
            </a:pPr>
            <a:r>
              <a:t>Production Toolkits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Scikit-Learn: GridSearchCV, RandomizedSearchCV.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Optuna: State-of-the-art TPE sampling &amp; pruning.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Ray Tune: Distributed multi-node parallel trial execution.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MLflow / Weights &amp; Biases: Experiment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394960" cy="2377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8350F"/>
                </a:solidFill>
              </a:defRPr>
            </a:pPr>
            <a:r>
              <a:t>MovieMine Implementation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K-Means: k=4 personas with distinct movie signatures.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Apriori: min_sup=0.15, lift&gt;1.4 yielding 38 rules.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Pipeline: 100% encapsulated within Flask &amp; React UI.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Verified with real IMDb &amp; MovieLens dataset ratings.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394960" cy="23774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831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31843"/>
                </a:solidFill>
              </a:defRPr>
            </a:pPr>
            <a:r>
              <a:t>Academic Citations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1. Bergstra &amp; Bengio (2012). JMLR, 13, 281-305.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2. Snoek et al. (2012). Practical Bayesian Optimization. NeurIPS.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3. Pedregosa et al. (2011). Scikit-learn. JMLR, 12, 2825-2830.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4. GTU BE05000181 Syllabus, VGEC Chandkheda.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