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ge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1097280" cy="1097280"/>
          </a:xfrm>
          <a:prstGeom prst="rect">
            <a:avLst/>
          </a:prstGeom>
        </p:spPr>
      </p:pic>
      <p:pic>
        <p:nvPicPr>
          <p:cNvPr id="4" name="Picture 3" descr="gt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731520"/>
            <a:ext cx="1082278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777240"/>
            <a:ext cx="76196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3C5FD"/>
                </a:solidFill>
              </a:defRPr>
            </a:pPr>
            <a:r>
              <a:t>VISHWAKARMA GOVERNMENT ENGINEERING COLLEGE, CHANDKHEDA</a:t>
            </a:r>
          </a:p>
          <a:p>
            <a:pPr algn="ctr">
              <a:defRPr sz="1200">
                <a:solidFill>
                  <a:srgbClr val="E2E8F0"/>
                </a:solidFill>
              </a:defRPr>
            </a:pPr>
            <a:r>
              <a:t>Department of Computer Engineering | Gujarat Technological University (GTU)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9997135" cy="2286000"/>
          </a:xfrm>
          <a:prstGeom prst="roundRect">
            <a:avLst/>
          </a:prstGeom>
          <a:solidFill>
            <a:srgbClr val="1E3A8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PBL TASK – 3 PRESENTATION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HYPERPARAMETER TUNING OF DATA MINING MODELS</a:t>
            </a:r>
          </a:p>
          <a:p>
            <a:pPr algn="ctr">
              <a:defRPr sz="1300">
                <a:solidFill>
                  <a:srgbClr val="CBD5E1"/>
                </a:solidFill>
              </a:defRPr>
            </a:pPr>
            <a:r>
              <a:t>Systematic Optimization of Algorithmic Hyperparameters for Pattern Discovery &amp; Predictive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480560"/>
            <a:ext cx="9997135" cy="173736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SUBMITTED BY: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Gohel Ridham Manojkumar — Enrollment No.: 240170107121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Prajapati Vaidik Shaileshbhai — Enrollment No.: 240170107116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Under the Guidance of: Prof. Niyati Shah | Subject: Data Mining Techniques (BE05000181) | Sem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Fundamentals &amp; Mathematical Problem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92608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PBL TASK - 3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Gujarat Technological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Parameters vs. Hyperparameters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Model Parameters (w): </a:t>
            </a:r>
            <a:r>
              <a:rPr b="0"/>
              <a:t>Internal coefficients learned automatically during training via gradient descent or closed-form optimization (e.g., neural weights, SVM support vector weights, linear regression coefficients).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Hyperparameters (θ): </a:t>
            </a:r>
            <a:r>
              <a:rPr b="0"/>
              <a:t>External architectural or algorithmic configurations set prior to model training that govern model complexity, capacity, and learning dynamics.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• Primary Objective: </a:t>
            </a:r>
            <a:r>
              <a:rPr b="0"/>
              <a:t>Identify the optimal configuration θ* that minimizes expected generalization risk on unseen data without succumbing to underfitting or overfitting.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Mathematical Formulation of the Tuning Problem</a:t>
            </a:r>
          </a:p>
          <a:p>
            <a:br/>
            <a:pPr>
              <a:defRPr b="1" sz="1300"/>
            </a:pPr>
            <a:r>
              <a:t>Bilevel Optimization Problem:</a:t>
            </a:r>
          </a:p>
          <a:p>
            <a:pPr>
              <a:defRPr b="1" sz="1300">
                <a:solidFill>
                  <a:srgbClr val="2563EB"/>
                </a:solidFill>
              </a:defRPr>
            </a:pPr>
            <a:r>
              <a:t>θ* = arg min_{θ ∈ Θ} E_{(x,y) ~ D_val} [ L(f(x; w*(θ)), y) ]</a:t>
            </a:r>
          </a:p>
          <a:p>
            <a:pPr>
              <a:defRPr b="1" sz="1200">
                <a:solidFill>
                  <a:srgbClr val="1E293B"/>
                </a:solidFill>
              </a:defRPr>
            </a:pPr>
            <a:r>
              <a:t>Subject to: w*(θ) = arg min_{w} L_train(f(x; w), y_train)</a:t>
            </a:r>
          </a:p>
          <a:p>
            <a:br/>
            <a:pPr>
              <a:defRPr b="1" sz="1300"/>
            </a:pPr>
            <a:r>
              <a:t>Why Default Hyperparameters Fail in Production: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Default values (e.g., C=1.0 in SVM, k=8 in K-Means) are dataset-agnostic heuristics.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Data distributions vary drastically in feature density, sparsity, and noise.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Un-tuned models frequently suffer from either high bias (underfitting) or high variance (overfitting).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Systematic Hyperparameter Search Paradigms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92608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PBL TASK - 3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Gujarat Technological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Search Methodologies Comparison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1. Grid Search (Exhaustive): </a:t>
            </a:r>
            <a:r>
              <a:rPr b="0"/>
              <a:t>Evaluates all candidate combinations across a Cartesian product. Highly thorough for 1–2 dimensions, but computationally scales exponentially as O(M^d), suffering from the curse of dimensionality.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2. Random Search (Bergstra &amp; Bengio): </a:t>
            </a:r>
            <a:r>
              <a:rPr b="0"/>
              <a:t>Samples parameter tuples randomly from continuous or discrete distributions. Significantly more efficient when only a subset of hyperparameters dominate model performance (low effective dimensionality).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3. Bayesian Optimization: </a:t>
            </a:r>
            <a:r>
              <a:rPr b="0"/>
              <a:t>Fits a probabilistic surrogate model (e.g., Gaussian Process / TPE) to historical trials, using an Acquisition Function (Expected Improvement) to sample the most promising points.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4. Successive Halving &amp; Hyperband: </a:t>
            </a:r>
            <a:r>
              <a:rPr b="0"/>
              <a:t>Allocates aggressive early-stopping budgets; evaluates many configurations on small data subsets and doubles resources only for top performers.</a:t>
            </a:r>
          </a:p>
        </p:txBody>
      </p:sp>
      <p:pic>
        <p:nvPicPr>
          <p:cNvPr id="7" name="Picture 6" descr="search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486400" cy="2446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9377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Key Takeaway (Bergstra &amp; Bengio, JMLR 2012):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In Grid Search (left), 9 trials only test 3 distinct values per hyperparameter. In Random Search (right), all 9 trials test unique values along the critical dimension, leading to vastly superior exploration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Hyperparameter Tuning in Unsupervised Data Mining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92608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PBL TASK - 3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Gujarat Technological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Heuristics for Unsupervised Models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K-Means Clustering: </a:t>
            </a:r>
            <a:r>
              <a:rPr b="0"/>
              <a:t>Because ground-truth labels are absent, the cluster count k must be determined through internal validation metrics: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Elbow Method (Inertia SSE): </a:t>
            </a:r>
            <a:r>
              <a:rPr b="0"/>
              <a:t>Calculates Sum of Squared Errors between samples and their centroid: SSE = Σ ||x - μ_i||^2. The optimal k lies at the point of diminishing returns (the 'elbow').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Silhouette Coefficient: </a:t>
            </a:r>
            <a:r>
              <a:rPr b="0"/>
              <a:t>Measures intra-cluster cohesion a(i) vs nearest-cluster separation b(i): s(i) = [b(i) - a(i)] / max(a(i), b(i)). Values near 1.0 indicate well-separated clusters.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Seeding Strategy: </a:t>
            </a:r>
            <a:r>
              <a:rPr b="0"/>
              <a:t>Using init='k-means++' with n_init=20 ensures spread-out initial centroids, eliminating bad local minima.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Apriori Association Mining: </a:t>
            </a:r>
            <a:r>
              <a:rPr b="0"/>
              <a:t>Tuning min_support prevents combinatorial explosion of candidate itemsets, while min_confidence and min_lift (&gt; 1.0) ensure mined co-watching patterns represent true statistical lift rather than independent popularities.</a:t>
            </a:r>
          </a:p>
        </p:txBody>
      </p:sp>
      <p:pic>
        <p:nvPicPr>
          <p:cNvPr id="7" name="Picture 6" descr="kmeans_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486400" cy="29680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9377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Empirical Finding in MovieMine Catalog: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For 120 audience profiles across 21 genres, k=4 achieves the optimal compromise: marked inertia deflection (SSE=620) and maximal Silhouette score (0.68), cleanly yielding the 4 distinct viewer personas.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Tuning Supervised Classifiers &amp; Ensemble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92608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PBL TASK - 3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Gujarat Technological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Model Specific Hyperparameters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Support Vector Machines (SVM): </a:t>
            </a:r>
            <a:r>
              <a:rPr b="0"/>
              <a:t>Soft-margin penalty C balances misclassification penalty vs margin width. Kernel parameter γ (gamma) determines the Gaussian RBF influence radius; high γ causes overfitting (decision boundary islands).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Random Forest Ensembles: 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n_estimators: </a:t>
            </a:r>
            <a:r>
              <a:rPr b="0"/>
              <a:t>Number of decision trees (diminishing returns beyond 200–300 trees).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max_depth &amp; min_samples_split: </a:t>
            </a:r>
            <a:r>
              <a:rPr b="0"/>
              <a:t>Restricts tree growth to control individual tree variance.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• max_features: </a:t>
            </a:r>
            <a:r>
              <a:rPr b="0"/>
              <a:t>Number of subset features considered per split (typically √d for classification).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Gradient Boosted Trees (XGBoost): </a:t>
            </a:r>
            <a:r>
              <a:rPr b="0"/>
              <a:t>Requires joint tuning of learning_rate (η), subsample ratio, colsample_bytree, and tree depth (max_depth=4–8 to prevent deep greedy overfitting).</a:t>
            </a:r>
          </a:p>
        </p:txBody>
      </p:sp>
      <p:pic>
        <p:nvPicPr>
          <p:cNvPr id="7" name="Picture 6" descr="hyperparamet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486400" cy="29909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9377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Grid Search Surface Analysis (SVM C vs. γ):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The heatmap illustrates cross-validation accuracy across 36 parameter configurations. The global peak is reached at C=10.0 and γ=0.01 (94.0% accuracy), while excessive regularization or narrow bandwidth sharply deteriorates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Bias-Variance Tradeoff &amp; Validation Curves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92608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PBL TASK - 3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Gujarat Technological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Diagnosing Model Behavior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Underfitting (High Bias): </a:t>
            </a:r>
            <a:r>
              <a:rPr b="0"/>
              <a:t>Occurs when hyperparameters overly restrict model capacity (e.g., small C, depth=1). Both training and validation errors remain unacceptably high.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Optimal Capacity (Sweet Spot): </a:t>
            </a:r>
            <a:r>
              <a:rPr b="0"/>
              <a:t>The exact hyperparameter setting θ* where validation error is minimized and generalization performance on unseen test samples is maximized.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Overfitting (High Variance): </a:t>
            </a:r>
            <a:r>
              <a:rPr b="0"/>
              <a:t>Occurs when capacity is excessive. Training error drops toward zero as the model memorizes idiosyncratic training noise, while validation error sharply increases.</a:t>
            </a:r>
          </a:p>
          <a:p>
            <a:pPr>
              <a:defRPr b="1" sz="1100">
                <a:solidFill>
                  <a:srgbClr val="1E293B"/>
                </a:solidFill>
              </a:defRPr>
            </a:pPr>
            <a:r>
              <a:t>Preventing Data Leakage: </a:t>
            </a:r>
            <a:r>
              <a:rPr b="0"/>
              <a:t>Preprocessing steps (StandardScaler, PCA) MUST be executed strictly inside the CV training fold using Scikit-Learn Pipeline. Fitting scalers on the full dataset before CV causes optimistic, invalid score inflation.</a:t>
            </a:r>
          </a:p>
        </p:txBody>
      </p:sp>
      <p:pic>
        <p:nvPicPr>
          <p:cNvPr id="7" name="Picture 6" descr="validation_curve_bias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486400" cy="29680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49377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Validation Curve Interpretation: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By plotting training vs. validation scores across a single hyperparameter on a logarithmic scale, engineers immediately identify whether to increase model capacity or strengthen regularization.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Empirical Results, Frameworks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92608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PBL TASK - 3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Data Mining Techniques (BE05000181) | Computer Engineering Dept., VGEC Chandkheda | Gujarat Technological University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603504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Empirical Results: Before vs. After Tuning</a:t>
            </a:r>
          </a:p>
          <a:p>
            <a:br/>
            <a:pPr>
              <a:defRPr b="1" sz="1200">
                <a:solidFill>
                  <a:srgbClr val="2563EB"/>
                </a:solidFill>
              </a:defRPr>
            </a:pPr>
            <a:r>
              <a:t>Production Hyperparameter Optimization Toolkits: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Scikit-learn: GridSearchCV, RandomizedSearchCV, HalvingGridSearchCV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Optuna: Asynchronous Tree-structured Parzen Estimator (TPE) with pruning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Ray Tune: Distributed multi-node cluster tuning with Population Based Training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56692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4206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Model / Task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Default Setting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Tuned Parameters (θ*)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Metric Gain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SVM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C=1.0, γ='scale'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C=10.0, γ=0.01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+15.0% Acc (79% → 94%)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n_est=100, depth=None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n_est=250, depth=12, feat=√d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+6.7% F1 (0.84 → 0.91)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K-Means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k=8, init='random'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k=4, init='k-means++', n_init=20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+88.9% Sil (0.36 → 0.68)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Apriori Mining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min_sup=0.01 (14k rules)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min_sup=0.15, lift &gt; 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38 Clean Rules (0 noise)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66560" y="1280160"/>
            <a:ext cx="484632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Key Takeaways &amp; Conclusion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✔ Hyperparameter tuning is not optional: </a:t>
            </a:r>
            <a:r>
              <a:rPr b="0"/>
              <a:t>Default algorithm settings leave significant model capacity unexploited.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✔ Prioritize Random / Bayesian Search: </a:t>
            </a:r>
            <a:r>
              <a:rPr b="0"/>
              <a:t>Brute-force grid search becomes infeasible beyond 3 hyperparameters.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✔ Use Nested Cross-Validation: </a:t>
            </a:r>
            <a:r>
              <a:rPr b="0"/>
              <a:t>Ensures reported accuracy metrics are completely unbiased and representative of real-world generalization.</a:t>
            </a:r>
          </a:p>
          <a:p>
            <a:pPr>
              <a:defRPr b="1" sz="1050">
                <a:solidFill>
                  <a:srgbClr val="1E293B"/>
                </a:solidFill>
              </a:defRPr>
            </a:pPr>
            <a:r>
              <a:t>✔ Unsupervised Models Require Heuristics: </a:t>
            </a:r>
            <a:r>
              <a:rPr b="0"/>
              <a:t>Elbow SSE and Silhouette analysis are indispensable for determining valid cluster counts.</a:t>
            </a:r>
          </a:p>
          <a:p>
            <a:br/>
            <a:pPr>
              <a:defRPr b="1" sz="1100">
                <a:solidFill>
                  <a:srgbClr val="2563EB"/>
                </a:solidFill>
              </a:defRPr>
            </a:pPr>
            <a:r>
              <a:t>Selected Academic References: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1. Bergstra &amp; Bengio (2012). Random Search for Hyper-Parameter Optimization. JMLR, 13.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2. Snoek et al. (2012). Practical Bayesian Optimization of Machine Learning Algorithms. NeurIPS.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3. Pedregosa et al. (2011). Scikit-learn: Machine Learning in Python. JMLR, 12.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4. GTU Syllabus for Computer Engineering: Data Mining Techniques (BE05000181).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